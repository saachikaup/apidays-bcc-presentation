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8f4529464142e4" /><Relationship Type="http://schemas.openxmlformats.org/officeDocument/2006/relationships/extended-properties" Target="/docProps/app.xml" Id="Ra35404c827bf4707" /><Relationship Type="http://schemas.openxmlformats.org/officeDocument/2006/relationships/officeDocument" Target="/ppt/presentation.xml" Id="Rfce4a4ef59a241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f9071ec72e4ab6"/>
  </p:sldMasterIdLst>
  <p:notesMasterIdLst>
    <p:notesMasterId xmlns:r="http://schemas.openxmlformats.org/officeDocument/2006/relationships" r:id="R14d564cdea7c4ebd"/>
  </p:notesMasterIdLst>
  <p:sldIdLst>
    <p:sldId xmlns:r="http://schemas.openxmlformats.org/officeDocument/2006/relationships" id="256" r:id="Rd8b8bf3d311f4b41"/>
    <p:sldId xmlns:r="http://schemas.openxmlformats.org/officeDocument/2006/relationships" id="257" r:id="R4f9e65c9587841a8"/>
    <p:sldId xmlns:r="http://schemas.openxmlformats.org/officeDocument/2006/relationships" id="258" r:id="Reae2be42096b46d5"/>
    <p:sldId xmlns:r="http://schemas.openxmlformats.org/officeDocument/2006/relationships" id="259" r:id="R8b6ecd2054644fea"/>
    <p:sldId xmlns:r="http://schemas.openxmlformats.org/officeDocument/2006/relationships" id="260" r:id="R497707181df94126"/>
    <p:sldId xmlns:r="http://schemas.openxmlformats.org/officeDocument/2006/relationships" id="261" r:id="Raa2d7e9e13da4138"/>
    <p:sldId xmlns:r="http://schemas.openxmlformats.org/officeDocument/2006/relationships" id="262" r:id="R663ebff7f7ec4568"/>
    <p:sldId xmlns:r="http://schemas.openxmlformats.org/officeDocument/2006/relationships" id="263" r:id="R46d9dbfee7da472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613012c70a4dcb" /><Relationship Type="http://schemas.openxmlformats.org/officeDocument/2006/relationships/slideMaster" Target="/ppt/slideMasters/slideMaster1.xml" Id="Raff9071ec72e4ab6" /><Relationship Type="http://schemas.openxmlformats.org/officeDocument/2006/relationships/notesMaster" Target="/ppt/notesMasters/notesMaster1.xml" Id="R14d564cdea7c4ebd" /><Relationship Type="http://schemas.openxmlformats.org/officeDocument/2006/relationships/presProps" Target="/ppt/presProps.xml" Id="R9e9f94ef348f4e89" /><Relationship Type="http://schemas.openxmlformats.org/officeDocument/2006/relationships/tableStyles" Target="/ppt/tableStyles.xml" Id="R26d742ea646843b9" /><Relationship Type="http://schemas.openxmlformats.org/officeDocument/2006/relationships/slide" Target="/ppt/slides/slide1.xml" Id="Rd8b8bf3d311f4b41" /><Relationship Type="http://schemas.openxmlformats.org/officeDocument/2006/relationships/slide" Target="/ppt/slides/slide2.xml" Id="R4f9e65c9587841a8" /><Relationship Type="http://schemas.openxmlformats.org/officeDocument/2006/relationships/slide" Target="/ppt/slides/slide3.xml" Id="Reae2be42096b46d5" /><Relationship Type="http://schemas.openxmlformats.org/officeDocument/2006/relationships/slide" Target="/ppt/slides/slide4.xml" Id="R8b6ecd2054644fea" /><Relationship Type="http://schemas.openxmlformats.org/officeDocument/2006/relationships/slide" Target="/ppt/slides/slide5.xml" Id="R497707181df94126" /><Relationship Type="http://schemas.openxmlformats.org/officeDocument/2006/relationships/slide" Target="/ppt/slides/slide6.xml" Id="Raa2d7e9e13da4138" /><Relationship Type="http://schemas.openxmlformats.org/officeDocument/2006/relationships/slide" Target="/ppt/slides/slide7.xml" Id="R663ebff7f7ec4568" /><Relationship Type="http://schemas.openxmlformats.org/officeDocument/2006/relationships/slide" Target="/ppt/slides/slide8.xml" Id="R46d9dbfee7da47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36b3ff2c0c41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1796aeb34a4cc0" /><Relationship Type="http://schemas.openxmlformats.org/officeDocument/2006/relationships/notesMaster" Target="/ppt/notesMasters/notesMaster1.xml" Id="R304fc431445541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2d0dfb0ebc4341" /><Relationship Type="http://schemas.openxmlformats.org/officeDocument/2006/relationships/notesMaster" Target="/ppt/notesMasters/notesMaster1.xml" Id="R17029395401843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caa45dd3204cd7" /><Relationship Type="http://schemas.openxmlformats.org/officeDocument/2006/relationships/notesMaster" Target="/ppt/notesMasters/notesMaster1.xml" Id="Rb78743504b8c42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d25c9b004646eb" /><Relationship Type="http://schemas.openxmlformats.org/officeDocument/2006/relationships/notesMaster" Target="/ppt/notesMasters/notesMaster1.xml" Id="R26a3bd343d3c4b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05313d98d484958" /><Relationship Type="http://schemas.openxmlformats.org/officeDocument/2006/relationships/notesMaster" Target="/ppt/notesMasters/notesMaster1.xml" Id="R851d33d3bcaa4f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0df744703424439" /><Relationship Type="http://schemas.openxmlformats.org/officeDocument/2006/relationships/notesMaster" Target="/ppt/notesMasters/notesMaster1.xml" Id="R1d51cdcdb96e44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50cdaff1efc4802" /><Relationship Type="http://schemas.openxmlformats.org/officeDocument/2006/relationships/notesMaster" Target="/ppt/notesMasters/notesMaster1.xml" Id="R576a7c4c731f43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d75729fc7184477" /><Relationship Type="http://schemas.openxmlformats.org/officeDocument/2006/relationships/notesMaster" Target="/ppt/notesMasters/notesMaster1.xml" Id="R01f09804753c43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82372ce4b141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fa528e93d54d88" /><Relationship Type="http://schemas.openxmlformats.org/officeDocument/2006/relationships/slideLayout" Target="/ppt/slideLayouts/slideLayout1.xml" Id="Rbb3ec3a6539947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3ec3a6539947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4b04c0006843b4" /><Relationship Type="http://schemas.openxmlformats.org/officeDocument/2006/relationships/notesSlide" Target="/ppt/notesSlides/notesSlide1.xml" Id="R51bd48bb8ea34e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6e999647174b30" /><Relationship Type="http://schemas.openxmlformats.org/officeDocument/2006/relationships/notesSlide" Target="/ppt/notesSlides/notesSlide2.xml" Id="Rce2ccd2696064d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07c57467d468f" /><Relationship Type="http://schemas.openxmlformats.org/officeDocument/2006/relationships/notesSlide" Target="/ppt/notesSlides/notesSlide3.xml" Id="R6057138b010b4d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c10fc324a94988" /><Relationship Type="http://schemas.openxmlformats.org/officeDocument/2006/relationships/notesSlide" Target="/ppt/notesSlides/notesSlide4.xml" Id="R5528c249311842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8a32ea1ea4c64" /><Relationship Type="http://schemas.openxmlformats.org/officeDocument/2006/relationships/notesSlide" Target="/ppt/notesSlides/notesSlide5.xml" Id="Re54f3fdc50f346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b50bf9ec1142db" /><Relationship Type="http://schemas.openxmlformats.org/officeDocument/2006/relationships/notesSlide" Target="/ppt/notesSlides/notesSlide6.xml" Id="R70feea622fca49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82fb2184794232" /><Relationship Type="http://schemas.openxmlformats.org/officeDocument/2006/relationships/notesSlide" Target="/ppt/notesSlides/notesSlide7.xml" Id="Rcb32df05866f46e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3ee5ac90f94308" /><Relationship Type="http://schemas.openxmlformats.org/officeDocument/2006/relationships/notesSlide" Target="/ppt/notesSlides/notesSlide8.xml" Id="Rb1b989dffe8c42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491942-1D6C-425E-8552-FCE114E7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16D3EE-7D31-433A-8657-F1CDF668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9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55EEF"/>
                </a:solidFill>
              </a:defRPr>
            </a:pPr>
            <a:r>
              <a:rPr sz="1200" b="1" i="0">
                <a:solidFill>
                  <a:srgbClr val="155EEF"/>
                </a:solidFill>
              </a:rPr>
              <a:t>ENTERPRISE BCC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D0A71F-56F3-4B9E-B7E5-15B607A7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286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111111"/>
                </a:solidFill>
              </a:defRPr>
            </a:pPr>
            <a:r>
              <a:rPr sz="4350" b="1" i="0">
                <a:solidFill>
                  <a:srgbClr val="111111"/>
                </a:solidFill>
              </a:rPr>
              <a:t>One release.</a:t>
            </a:r>
          </a:p>
          <a:p xmlns:a="http://schemas.openxmlformats.org/drawingml/2006/main">
            <a:pPr algn="l">
              <a:defRPr sz="4350" b="1" i="0">
                <a:solidFill>
                  <a:srgbClr val="111111"/>
                </a:solidFill>
              </a:defRPr>
            </a:pPr>
            <a:r>
              <a:rPr sz="4350" b="1" i="0">
                <a:solidFill>
                  <a:srgbClr val="111111"/>
                </a:solidFill>
              </a:rPr>
              <a:t>Four spec types.</a:t>
            </a:r>
          </a:p>
          <a:p xmlns:a="http://schemas.openxmlformats.org/drawingml/2006/main">
            <a:pPr algn="l">
              <a:defRPr sz="4350" b="1" i="0">
                <a:solidFill>
                  <a:srgbClr val="111111"/>
                </a:solidFill>
              </a:defRPr>
            </a:pPr>
            <a:r>
              <a:rPr sz="4350" b="1" i="0">
                <a:solidFill>
                  <a:srgbClr val="111111"/>
                </a:solidFill>
              </a:rPr>
              <a:t>One BCC gate.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B367F5-5451-4C40-87CD-736C83BC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561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F6368"/>
                </a:solidFill>
              </a:defRPr>
            </a:pPr>
            <a:r>
              <a:rPr sz="1800" b="0" i="0">
                <a:solidFill>
                  <a:srgbClr val="5F6368"/>
                </a:solidFill>
              </a:rPr>
              <a:t>How a large enterprise catches breaking contract changes before they reach consumers.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BDB758-114D-4D74-B8CD-D019B05A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19200"/>
            <a:ext cx="30480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B89794-D92A-4531-B032-2491468C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811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55EEF"/>
                </a:solidFill>
              </a:defRPr>
            </a:pPr>
            <a:r>
              <a:rPr sz="1350" b="1" i="0">
                <a:solidFill>
                  <a:srgbClr val="155EEF"/>
                </a:solidFill>
              </a:rPr>
              <a:t>OPENAPI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92B310-2D59-4462-B453-BA13B35E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71675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2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A20A79-F464-4B49-B561-3E1F08F0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00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GRAPHQL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89BC68-5263-45E1-90C9-6D15AA3A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90825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2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09814D-8CAB-4D72-8242-E131C6B7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19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gRPC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EEE2B9-FF85-40BC-8DE9-B5CACD92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09975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2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32031D-3E08-42A9-92B9-000F70A3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386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ASYNCAPI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C999AB-03ED-458B-AF48-B5AA40F3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19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55EEF"/>
                </a:solidFill>
              </a:defRPr>
            </a:pPr>
            <a:r>
              <a:rPr sz="1275" b="1" i="0">
                <a:solidFill>
                  <a:srgbClr val="155EEF"/>
                </a:solidFill>
              </a:rPr>
              <a:t>same question →</a:t>
            </a:r>
          </a:p>
        </p:txBody>
      </p:sp>
    </p:spTree>
    <p:extLst>
      <p:ext uri="{BB962C8B-B14F-4D97-AF65-F5344CB8AC3E}">
        <p14:creationId xmlns:p14="http://schemas.microsoft.com/office/powerpoint/2010/main" val="51900681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2A5B5E-4B18-4417-8EAE-53A60E72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55EEF"/>
                </a:solidFill>
              </a:defRPr>
            </a:pPr>
            <a:r>
              <a:rPr sz="1050" b="1" i="0">
                <a:solidFill>
                  <a:srgbClr val="155EEF"/>
                </a:solidFill>
              </a:rPr>
              <a:t>THE RELEASE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DC13A5-7309-486D-B5B0-1E7BDD2B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111"/>
                </a:solidFill>
              </a:defRPr>
            </a:pPr>
            <a:r>
              <a:rPr sz="2700" b="1" i="0">
                <a:solidFill>
                  <a:srgbClr val="111111"/>
                </a:solidFill>
              </a:rPr>
              <a:t>Every change is reasonable. The risk is compatibility.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488511-0C12-4256-8C96-9C3A4EFF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DD7ADB-4AFC-4699-8D8F-A94A2AC7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5F6368"/>
                </a:solidFill>
              </a:defRPr>
            </a:pPr>
            <a:r>
              <a:rPr sz="1050" b="1" i="0">
                <a:solidFill>
                  <a:srgbClr val="5F6368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D8DCAF-CF81-4F2A-A543-9D5B8DA0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F6368"/>
                </a:solidFill>
              </a:defRPr>
            </a:pPr>
            <a:r>
              <a:rPr sz="1800" b="0" i="0">
                <a:solidFill>
                  <a:srgbClr val="5F6368"/>
                </a:solidFill>
              </a:rPr>
              <a:t>A global order-fulfillment release is evolving several consumer-facing contracts at once.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4F5C84-5561-45A1-8088-2CFC0D72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55EEF"/>
                </a:solidFill>
              </a:defRPr>
            </a:pPr>
            <a:r>
              <a:rPr sz="1575" b="1" i="0">
                <a:solidFill>
                  <a:srgbClr val="155EEF"/>
                </a:solidFill>
              </a:rPr>
              <a:t>OpenAPI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2D242B-61C2-486C-9F66-2E21960A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1937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8AC4B3-F694-4B79-A51B-9A938D22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765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11111"/>
                </a:solidFill>
              </a:defRPr>
            </a:pPr>
            <a:r>
              <a:rPr sz="1575" b="0" i="0">
                <a:solidFill>
                  <a:srgbClr val="111111"/>
                </a:solidFill>
              </a:rPr>
              <a:t>Order history is growing, so clients need pagination.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9C5026-B378-47A7-923A-214D8E86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111"/>
                </a:solidFill>
              </a:defRPr>
            </a:pPr>
            <a:r>
              <a:rPr sz="1575" b="1" i="0">
                <a:solidFill>
                  <a:srgbClr val="111111"/>
                </a:solidFill>
              </a:rPr>
              <a:t>GraphQL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9F27AF-A470-4AEB-BE13-A622DFED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6232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2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C158C0-ED71-4D60-B5AA-E4C8F306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194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11111"/>
                </a:solidFill>
              </a:defRPr>
            </a:pPr>
            <a:r>
              <a:rPr sz="1575" b="0" i="0">
                <a:solidFill>
                  <a:srgbClr val="111111"/>
                </a:solidFill>
              </a:rPr>
              <a:t>The customer portal is standardizing terminology.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D05CEF-5AF1-4FD7-85CE-161D040F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624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111"/>
                </a:solidFill>
              </a:defRPr>
            </a:pPr>
            <a:r>
              <a:rPr sz="1575" b="1" i="0">
                <a:solidFill>
                  <a:srgbClr val="111111"/>
                </a:solidFill>
              </a:rPr>
              <a:t>gRPC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5169A2-FAE1-42C1-BEEF-A50A8596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0527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2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F02BB8-5C2F-42D9-BD9F-FA52F4C2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624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11111"/>
                </a:solidFill>
              </a:defRPr>
            </a:pPr>
            <a:r>
              <a:rPr sz="1575" b="0" i="0">
                <a:solidFill>
                  <a:srgbClr val="111111"/>
                </a:solidFill>
              </a:rPr>
              <a:t>International warehouses need globally unique order IDs.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F887C2-D59F-4414-A3A1-811116F9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053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111"/>
                </a:solidFill>
              </a:defRPr>
            </a:pPr>
            <a:r>
              <a:rPr sz="1575" b="1" i="0">
                <a:solidFill>
                  <a:srgbClr val="111111"/>
                </a:solidFill>
              </a:rPr>
              <a:t>AsyncAPI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FEDE6C-61E0-4F46-A3FC-96F938DC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4822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2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15B75F-83DC-4A05-9FAA-EF57B827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053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11111"/>
                </a:solidFill>
              </a:defRPr>
            </a:pPr>
            <a:r>
              <a:rPr sz="1575" b="0" i="0">
                <a:solidFill>
                  <a:srgbClr val="111111"/>
                </a:solidFill>
              </a:rPr>
              <a:t>Shipping partners need richer shipment status information.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9F7D4B-3649-484F-8EC2-C4D0C5CC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F"/>
          </a:solidFill>
          <a:ln xmlns:a="http://schemas.openxmlformats.org/drawingml/2006/main" w="9525">
            <a:solidFill>
              <a:srgbClr val="EDF3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B6F069-E177-45D0-A56D-9E71279F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102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55EEF"/>
                </a:solidFill>
              </a:defRPr>
            </a:pPr>
            <a:r>
              <a:rPr sz="1500" b="1" i="0">
                <a:solidFill>
                  <a:srgbClr val="155EEF"/>
                </a:solidFill>
              </a:rPr>
              <a:t>The business need is valid. Existing consumers still depend on the current contract.</a:t>
            </a:r>
          </a:p>
        </p:txBody>
      </p:sp>
    </p:spTree>
    <p:extLst>
      <p:ext uri="{BB962C8B-B14F-4D97-AF65-F5344CB8AC3E}">
        <p14:creationId xmlns:p14="http://schemas.microsoft.com/office/powerpoint/2010/main" val="165338953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1D6299-FF96-481F-87DB-07FA616B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55EEF"/>
                </a:solidFill>
              </a:defRPr>
            </a:pPr>
            <a:r>
              <a:rPr sz="1050" b="1" i="0">
                <a:solidFill>
                  <a:srgbClr val="155EEF"/>
                </a:solidFill>
              </a:rPr>
              <a:t>THE COMMON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A49171-14C3-4026-8A8D-BA30A5B4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111"/>
                </a:solidFill>
              </a:defRPr>
            </a:pPr>
            <a:r>
              <a:rPr sz="2700" b="1" i="0">
                <a:solidFill>
                  <a:srgbClr val="111111"/>
                </a:solidFill>
              </a:rPr>
              <a:t>Different spec types create the same release responsibility.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CFAFAA-92F4-46BF-89D5-97B01D74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37C2E0-D4D2-44E2-88B6-2D294C08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5F6368"/>
                </a:solidFill>
              </a:defRPr>
            </a:pPr>
            <a:r>
              <a:rPr sz="1050" b="1" i="0">
                <a:solidFill>
                  <a:srgbClr val="5F6368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707F75-2270-49F1-9D65-0EC187A2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F6368"/>
                </a:solidFill>
              </a:defRPr>
            </a:pPr>
            <a:r>
              <a:rPr sz="975" b="1" i="0">
                <a:solidFill>
                  <a:srgbClr val="5F6368"/>
                </a:solidFill>
              </a:rPr>
              <a:t>SPEC 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D4C1A4-4FE9-4775-9E63-C471EB2C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809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F6368"/>
                </a:solidFill>
              </a:defRPr>
            </a:pPr>
            <a:r>
              <a:rPr sz="975" b="1" i="0">
                <a:solidFill>
                  <a:srgbClr val="5F6368"/>
                </a:solidFill>
              </a:rPr>
              <a:t>CONSUMER SURFACE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5B80B6-80B4-4E44-BDD4-421A6DA5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09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F6368"/>
                </a:solidFill>
              </a:defRPr>
            </a:pPr>
            <a:r>
              <a:rPr sz="975" b="1" i="0">
                <a:solidFill>
                  <a:srgbClr val="5F6368"/>
                </a:solidFill>
              </a:rPr>
              <a:t>CHANGE TO 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D71F47-C1C6-412A-BBD9-77AAAE95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893592-5D1A-4245-B2B9-AAA9255C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</a:defRPr>
            </a:pPr>
            <a:r>
              <a:rPr sz="1500" b="1" i="0">
                <a:solidFill>
                  <a:srgbClr val="111111"/>
                </a:solidFill>
              </a:rPr>
              <a:t>OpenAPI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5D1E8E-0B20-42CB-B892-0300F042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193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111"/>
                </a:solidFill>
              </a:defRPr>
            </a:pPr>
            <a:r>
              <a:rPr sz="1500" b="0" i="0">
                <a:solidFill>
                  <a:srgbClr val="111111"/>
                </a:solidFill>
              </a:rPr>
              <a:t>Order-history clients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B2D7CC-9501-4572-BCB1-998E490A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193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111"/>
                </a:solidFill>
              </a:defRPr>
            </a:pPr>
            <a:r>
              <a:rPr sz="1500" b="0" i="0">
                <a:solidFill>
                  <a:srgbClr val="111111"/>
                </a:solidFill>
              </a:rPr>
              <a:t>Make limit mandatory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50AA0A-3190-4640-AC66-611CC969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2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F3A619-0980-45C8-9098-42588A5C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</a:defRPr>
            </a:pPr>
            <a:r>
              <a:rPr sz="1500" b="1" i="0">
                <a:solidFill>
                  <a:srgbClr val="111111"/>
                </a:solidFill>
              </a:rPr>
              <a:t>GraphQL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ACF761-2F91-4F7A-95C6-68100E26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1623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111"/>
                </a:solidFill>
              </a:defRPr>
            </a:pPr>
            <a:r>
              <a:rPr sz="1500" b="0" i="0">
                <a:solidFill>
                  <a:srgbClr val="111111"/>
                </a:solidFill>
              </a:rPr>
              <a:t>Portal queries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79ABBC-9EB3-40E5-AA64-B2A7A447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623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111"/>
                </a:solidFill>
              </a:defRPr>
            </a:pPr>
            <a:r>
              <a:rPr sz="1500" b="0" i="0">
                <a:solidFill>
                  <a:srgbClr val="111111"/>
                </a:solidFill>
              </a:rPr>
              <a:t>Rename customerName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23BB3B-72EC-4578-87AE-15E2E4E7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2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3873C6-BF0B-49AF-B99C-B1E57818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</a:defRPr>
            </a:pPr>
            <a:r>
              <a:rPr sz="1500" b="1" i="0">
                <a:solidFill>
                  <a:srgbClr val="111111"/>
                </a:solidFill>
              </a:rPr>
              <a:t>gRPC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455C55-7EB2-403E-973A-3FCB0BB4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9052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111"/>
                </a:solidFill>
              </a:defRPr>
            </a:pPr>
            <a:r>
              <a:rPr sz="1500" b="0" i="0">
                <a:solidFill>
                  <a:srgbClr val="111111"/>
                </a:solidFill>
              </a:rPr>
              <a:t>Warehouse clients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264562-3466-49D6-852D-FD78229F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052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111"/>
                </a:solidFill>
              </a:defRPr>
            </a:pPr>
            <a:r>
              <a:rPr sz="1500" b="0" i="0">
                <a:solidFill>
                  <a:srgbClr val="111111"/>
                </a:solidFill>
              </a:rPr>
              <a:t>int64 → string ID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D34EE7-F51C-4172-ACEE-C985C6A0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2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610689-1A69-477F-9877-20DDE810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</a:defRPr>
            </a:pPr>
            <a:r>
              <a:rPr sz="1500" b="1" i="0">
                <a:solidFill>
                  <a:srgbClr val="111111"/>
                </a:solidFill>
              </a:rPr>
              <a:t>AsyncAPI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E73666-B384-4709-A6E8-273534E7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482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111"/>
                </a:solidFill>
              </a:defRPr>
            </a:pPr>
            <a:r>
              <a:rPr sz="1500" b="0" i="0">
                <a:solidFill>
                  <a:srgbClr val="111111"/>
                </a:solidFill>
              </a:rPr>
              <a:t>Event consumers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E5F39A-E917-44F9-BA4A-967B4842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482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111"/>
                </a:solidFill>
              </a:defRPr>
            </a:pPr>
            <a:r>
              <a:rPr sz="1500" b="0" i="0">
                <a:solidFill>
                  <a:srgbClr val="111111"/>
                </a:solidFill>
              </a:rPr>
              <a:t>string → status object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AEF0D6-7CE6-47D9-B228-74EED007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2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6B7D48-0828-4E2C-8682-EBCD666E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155EEF"/>
                </a:solidFill>
              </a:defRPr>
            </a:pPr>
            <a:r>
              <a:rPr sz="2250" b="1" i="0">
                <a:solidFill>
                  <a:srgbClr val="155EEF"/>
                </a:solidFill>
              </a:rPr>
              <a:t>Will existing consumers continue to work?</a:t>
            </a:r>
          </a:p>
        </p:txBody>
      </p:sp>
    </p:spTree>
    <p:extLst>
      <p:ext uri="{BB962C8B-B14F-4D97-AF65-F5344CB8AC3E}">
        <p14:creationId xmlns:p14="http://schemas.microsoft.com/office/powerpoint/2010/main" val="97427970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CB40F0-AC57-46B5-8906-5EAF9B77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55EEF"/>
                </a:solidFill>
              </a:defRPr>
            </a:pPr>
            <a:r>
              <a:rPr sz="1050" b="1" i="0">
                <a:solidFill>
                  <a:srgbClr val="155EEF"/>
                </a:solidFill>
              </a:rPr>
              <a:t>START WITH OPENAPI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51C689-75A8-447F-BF0F-D347CFD8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111"/>
                </a:solidFill>
              </a:defRPr>
            </a:pPr>
            <a:r>
              <a:rPr sz="2700" b="1" i="0">
                <a:solidFill>
                  <a:srgbClr val="111111"/>
                </a:solidFill>
              </a:rPr>
              <a:t>The first demo makes the compatibility rule visible.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473CB0-27DC-4BD8-A1EE-A727AA33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8F5A22-88D5-44FC-AA0A-A9DAC781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5F6368"/>
                </a:solidFill>
              </a:defRPr>
            </a:pPr>
            <a:r>
              <a:rPr sz="1050" b="1" i="0">
                <a:solidFill>
                  <a:srgbClr val="5F6368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56E329-DCD0-4D4A-9976-8B63FB2A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F6368"/>
                </a:solidFill>
              </a:defRPr>
            </a:pPr>
            <a:r>
              <a:rPr sz="1650" b="0" i="0">
                <a:solidFill>
                  <a:srgbClr val="5F6368"/>
                </a:solidFill>
              </a:rPr>
              <a:t>Pagination gives us one safe change and one breaking change that look almost identical in the spec.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F6DC1B-2B82-46C4-9BED-B88A358A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17A55"/>
                </a:solidFill>
              </a:defRPr>
            </a:pPr>
            <a:r>
              <a:rPr sz="975" b="1" i="0">
                <a:solidFill>
                  <a:srgbClr val="117A55"/>
                </a:solidFill>
              </a:rPr>
              <a:t>SAFE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6F90F4-D400-4908-B4F7-9D57312A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111"/>
                </a:solidFill>
              </a:defRPr>
            </a:pPr>
            <a:r>
              <a:rPr sz="1725" b="1" i="0">
                <a:solidFill>
                  <a:srgbClr val="111111"/>
                </a:solidFill>
              </a:rPr>
              <a:t>Add an optional query parameter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F68E42-DA57-470B-A37F-088B6ACB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47625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E8F5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6CA274-5284-4B51-BB8E-7BD26249F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52800"/>
            <a:ext cx="4419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7A55"/>
                </a:solidFill>
              </a:defRPr>
            </a:pPr>
            <a:r>
              <a:rPr sz="1350" b="0" i="0">
                <a:solidFill>
                  <a:srgbClr val="117A55"/>
                </a:solidFill>
              </a:rPr>
              <a:t>- name: skip</a:t>
            </a:r>
          </a:p>
          <a:p xmlns:a="http://schemas.openxmlformats.org/drawingml/2006/main">
            <a:pPr algn="l">
              <a:defRPr sz="1350" b="0" i="0">
                <a:solidFill>
                  <a:srgbClr val="117A55"/>
                </a:solidFill>
              </a:defRPr>
            </a:pPr>
            <a:r>
              <a:rPr sz="1350" b="0" i="0">
                <a:solidFill>
                  <a:srgbClr val="117A55"/>
                </a:solidFill>
              </a:rPr>
              <a:t>  in: query</a:t>
            </a:r>
          </a:p>
          <a:p xmlns:a="http://schemas.openxmlformats.org/drawingml/2006/main">
            <a:pPr algn="l">
              <a:defRPr sz="1350" b="0" i="0">
                <a:solidFill>
                  <a:srgbClr val="117A55"/>
                </a:solidFill>
              </a:defRPr>
            </a:pPr>
            <a:r>
              <a:rPr sz="1350" b="0" i="0">
                <a:solidFill>
                  <a:srgbClr val="117A55"/>
                </a:solidFill>
              </a:rPr>
              <a:t>  required: false</a:t>
            </a:r>
          </a:p>
          <a:p xmlns:a="http://schemas.openxmlformats.org/drawingml/2006/main">
            <a:pPr algn="l">
              <a:defRPr sz="1350" b="0" i="0">
                <a:solidFill>
                  <a:srgbClr val="117A55"/>
                </a:solidFill>
              </a:defRPr>
            </a:pPr>
            <a:r>
              <a:rPr sz="1350" b="0" i="0">
                <a:solidFill>
                  <a:srgbClr val="117A55"/>
                </a:solidFill>
              </a:rPr>
              <a:t>  default: 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B96C3E-4772-4AA4-B439-57F003A7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E8F5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B6DFF6-EFCF-4AC2-9035-5E43A176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445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7A55"/>
                </a:solidFill>
              </a:defRPr>
            </a:pPr>
            <a:r>
              <a:rPr sz="1200" b="1" i="0">
                <a:solidFill>
                  <a:srgbClr val="117A55"/>
                </a:solidFill>
              </a:rPr>
              <a:t>COMPATIBLE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DBBAAE-FEAB-48C5-A6E2-1C53B25A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03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42318"/>
                </a:solidFill>
              </a:defRPr>
            </a:pPr>
            <a:r>
              <a:rPr sz="975" b="1" i="0">
                <a:solidFill>
                  <a:srgbClr val="B42318"/>
                </a:solidFill>
              </a:rPr>
              <a:t>BREAKING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77FFC4-A76E-4568-8931-E7D16219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860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111"/>
                </a:solidFill>
              </a:defRPr>
            </a:pPr>
            <a:r>
              <a:rPr sz="1725" b="1" i="0">
                <a:solidFill>
                  <a:srgbClr val="111111"/>
                </a:solidFill>
              </a:rPr>
              <a:t>Make a new query parameter mandatory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2346FE-69FB-4760-9C1C-EB6D1D32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19450"/>
            <a:ext cx="47625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DEC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964564-CADA-481F-8FF0-42904F91A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52800"/>
            <a:ext cx="4419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B42318"/>
                </a:solidFill>
              </a:defRPr>
            </a:pPr>
            <a:r>
              <a:rPr sz="1350" b="0" i="0">
                <a:solidFill>
                  <a:srgbClr val="B42318"/>
                </a:solidFill>
              </a:rPr>
              <a:t>- name: limit</a:t>
            </a:r>
          </a:p>
          <a:p xmlns:a="http://schemas.openxmlformats.org/drawingml/2006/main">
            <a:pPr algn="l">
              <a:defRPr sz="1350" b="0" i="0">
                <a:solidFill>
                  <a:srgbClr val="B42318"/>
                </a:solidFill>
              </a:defRPr>
            </a:pPr>
            <a:r>
              <a:rPr sz="1350" b="0" i="0">
                <a:solidFill>
                  <a:srgbClr val="B42318"/>
                </a:solidFill>
              </a:rPr>
              <a:t>  in: query</a:t>
            </a:r>
          </a:p>
          <a:p xmlns:a="http://schemas.openxmlformats.org/drawingml/2006/main">
            <a:pPr algn="l">
              <a:defRPr sz="1350" b="0" i="0">
                <a:solidFill>
                  <a:srgbClr val="B42318"/>
                </a:solidFill>
              </a:defRPr>
            </a:pPr>
            <a:r>
              <a:rPr sz="1350" b="0" i="0">
                <a:solidFill>
                  <a:srgbClr val="B42318"/>
                </a:solidFill>
              </a:rPr>
              <a:t>  required: true</a:t>
            </a:r>
          </a:p>
          <a:p xmlns:a="http://schemas.openxmlformats.org/drawingml/2006/main">
            <a:pPr algn="l">
              <a:defRPr sz="1350" b="0" i="0">
                <a:solidFill>
                  <a:srgbClr val="B42318"/>
                </a:solidFill>
              </a:defRPr>
            </a:pPr>
            <a:r>
              <a:rPr sz="1350" b="0" i="0">
                <a:solidFill>
                  <a:srgbClr val="B42318"/>
                </a:solidFill>
              </a:rPr>
              <a:t>  default: 20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2B7469-CA1E-45B6-B1F0-6A50AB32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5300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DEC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14FB61-B2D1-44DF-B550-7E61E626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048250"/>
            <a:ext cx="445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42318"/>
                </a:solidFill>
              </a:defRPr>
            </a:pPr>
            <a:r>
              <a:rPr sz="1200" b="1" i="0">
                <a:solidFill>
                  <a:srgbClr val="B42318"/>
                </a:solidFill>
              </a:rPr>
              <a:t>INCOMPATIBLE</a:t>
            </a:r>
          </a:p>
        </p:txBody>
      </p:sp>
    </p:spTree>
    <p:extLst>
      <p:ext uri="{BB962C8B-B14F-4D97-AF65-F5344CB8AC3E}">
        <p14:creationId xmlns:p14="http://schemas.microsoft.com/office/powerpoint/2010/main" val="153973045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5C5227-580D-46BE-8112-E6A3F3B6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55EEF"/>
                </a:solidFill>
              </a:defRPr>
            </a:pPr>
            <a:r>
              <a:rPr sz="1050" b="1" i="0">
                <a:solidFill>
                  <a:srgbClr val="155EEF"/>
                </a:solidFill>
              </a:rPr>
              <a:t>THE LIVE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4742BB-B169-4FA4-A81C-007EEED9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111"/>
                </a:solidFill>
              </a:defRPr>
            </a:pPr>
            <a:r>
              <a:rPr sz="2700" b="1" i="0">
                <a:solidFill>
                  <a:srgbClr val="111111"/>
                </a:solidFill>
              </a:rPr>
              <a:t>The demo shows the exact change, command, and verdict.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81620F-5DBD-439A-BC76-FD8EA0D9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4567C5-300E-491A-B5F1-43BB003F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5F6368"/>
                </a:solidFill>
              </a:defRPr>
            </a:pPr>
            <a:r>
              <a:rPr sz="1050" b="1" i="0">
                <a:solidFill>
                  <a:srgbClr val="5F6368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0F76DE-79C4-4B5B-8AB5-90A9D3FA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55EEF"/>
                </a:solidFill>
              </a:defRPr>
            </a:pPr>
            <a:r>
              <a:rPr sz="1650" b="1" i="0">
                <a:solidFill>
                  <a:srgbClr val="155EE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632960-7960-4EAF-9A77-B394A2FF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9550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2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96B644-E0D0-48CF-965C-73B53544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24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</a:defRPr>
            </a:pPr>
            <a:r>
              <a:rPr sz="1650" b="1" i="0">
                <a:solidFill>
                  <a:srgbClr val="111111"/>
                </a:solidFill>
              </a:rPr>
              <a:t>Trusted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D6919-23BC-4B60-9490-DCAA0071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240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F6368"/>
                </a:solidFill>
              </a:defRPr>
            </a:pPr>
            <a:r>
              <a:rPr sz="1425" b="0" i="0">
                <a:solidFill>
                  <a:srgbClr val="5F6368"/>
                </a:solidFill>
              </a:rPr>
              <a:t>Committed spec in specs/baseline/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156DB5-C6B7-47EA-A284-7B0DE460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55EEF"/>
                </a:solidFill>
              </a:defRPr>
            </a:pPr>
            <a:r>
              <a:rPr sz="1650" b="1" i="0">
                <a:solidFill>
                  <a:srgbClr val="155EE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851C94-6AA5-4A8F-A8CE-4AA7EFE9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9560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2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CF8FDF-B8A3-49C8-8AC5-9DB9C08C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241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</a:defRPr>
            </a:pPr>
            <a:r>
              <a:rPr sz="1650" b="1" i="0">
                <a:solidFill>
                  <a:srgbClr val="111111"/>
                </a:solidFill>
              </a:rPr>
              <a:t>Business-driven edit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C7EF72-4880-4815-9C28-43DBDC1E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241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F6368"/>
                </a:solidFill>
              </a:defRPr>
            </a:pPr>
            <a:r>
              <a:rPr sz="1425" b="0" i="0">
                <a:solidFill>
                  <a:srgbClr val="5F6368"/>
                </a:solidFill>
              </a:rPr>
              <a:t>openapi_change.sh --add-skip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F67502-A790-4B39-8DB6-9AD80C29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55EEF"/>
                </a:solidFill>
              </a:defRPr>
            </a:pPr>
            <a:r>
              <a:rPr sz="1650" b="1" i="0">
                <a:solidFill>
                  <a:srgbClr val="155EE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890947-2185-4895-B88D-1D504741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9570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2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6BD3C9-A215-421C-A97E-18505AD5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524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</a:defRPr>
            </a:pPr>
            <a:r>
              <a:rPr sz="1650" b="1" i="0">
                <a:solidFill>
                  <a:srgbClr val="111111"/>
                </a:solidFill>
              </a:rPr>
              <a:t>Docker BCC check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9487A5-64C2-4BEF-96FE-C48C6AE4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242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F6368"/>
                </a:solidFill>
              </a:defRPr>
            </a:pPr>
            <a:r>
              <a:rPr sz="1425" b="0" i="0">
                <a:solidFill>
                  <a:srgbClr val="5F6368"/>
                </a:solidFill>
              </a:rPr>
              <a:t>run-bcc.sh openapi --add-skip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898857-6B90-4362-A4CC-AFB05F5E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55EEF"/>
                </a:solidFill>
              </a:defRPr>
            </a:pPr>
            <a:r>
              <a:rPr sz="1650" b="1" i="0">
                <a:solidFill>
                  <a:srgbClr val="155EEF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EFC005-A4BB-44B3-A6DC-09AA86F0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9580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2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5D2DAA-8FDF-4C98-B3FA-C552AECF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243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</a:defRPr>
            </a:pPr>
            <a:r>
              <a:rPr sz="1650" b="1" i="0">
                <a:solidFill>
                  <a:srgbClr val="111111"/>
                </a:solidFill>
              </a:rPr>
              <a:t>Visible result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BD7775-2EC7-4CFD-A9F4-E16A3A53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243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55EEF"/>
                </a:solidFill>
              </a:defRPr>
            </a:pPr>
            <a:r>
              <a:rPr sz="1425" b="0" i="0">
                <a:solidFill>
                  <a:srgbClr val="155EEF"/>
                </a:solidFill>
              </a:rPr>
              <a:t>COMPATIBLE or INCOMPATIBLE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E25F07-E43F-43CE-A461-20C69B23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F3F4F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8AF4CC-E5F5-40EC-A182-F2FD5F41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57850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</a:defRPr>
            </a:pPr>
            <a:r>
              <a:rPr sz="1500" b="1" i="0">
                <a:solidFill>
                  <a:srgbClr val="111111"/>
                </a:solidFill>
              </a:rPr>
              <a:t>The audience never has to learn four tools. They see one compatibility workflow applied across four spec types.</a:t>
            </a:r>
          </a:p>
        </p:txBody>
      </p:sp>
    </p:spTree>
    <p:extLst>
      <p:ext uri="{BB962C8B-B14F-4D97-AF65-F5344CB8AC3E}">
        <p14:creationId xmlns:p14="http://schemas.microsoft.com/office/powerpoint/2010/main" val="22542034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7F3258-6ABD-49C7-8C1B-80537695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55EEF"/>
                </a:solidFill>
              </a:defRPr>
            </a:pPr>
            <a:r>
              <a:rPr sz="1050" b="1" i="0">
                <a:solidFill>
                  <a:srgbClr val="155EEF"/>
                </a:solidFill>
              </a:rPr>
              <a:t>BROADEN THE PROOF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D066BD-798C-4020-9A10-EDE72B73E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111"/>
                </a:solidFill>
              </a:defRPr>
            </a:pPr>
            <a:r>
              <a:rPr sz="2700" b="1" i="0">
                <a:solidFill>
                  <a:srgbClr val="111111"/>
                </a:solidFill>
              </a:rPr>
              <a:t>The same gate catches different consumer breakage.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A8CEDC-6AD4-4E7A-A379-F39B6141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7F7166-2119-4370-9BF1-325ECC9B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5F6368"/>
                </a:solidFill>
              </a:defRPr>
            </a:pPr>
            <a:r>
              <a:rPr sz="1050" b="1" i="0">
                <a:solidFill>
                  <a:srgbClr val="5F6368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A1021B-12D2-4F12-969E-1BE58AE5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F56EED-045E-4644-A5F7-A79B66A6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111"/>
                </a:solidFill>
              </a:defRPr>
            </a:pPr>
            <a:r>
              <a:rPr sz="1575" b="1" i="0">
                <a:solidFill>
                  <a:srgbClr val="111111"/>
                </a:solidFill>
              </a:rPr>
              <a:t>GraphQL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C913E7-2CEE-443B-85E3-17219977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431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368"/>
                </a:solidFill>
              </a:defRPr>
            </a:pPr>
            <a:r>
              <a:rPr sz="1350" b="0" i="0">
                <a:solidFill>
                  <a:srgbClr val="5F6368"/>
                </a:solidFill>
              </a:rPr>
              <a:t>Portal query selects customerName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8A16A2-FD1A-49F0-BDEE-F86CBF71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0193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55EEF"/>
                </a:solidFill>
              </a:defRPr>
            </a:pPr>
            <a:r>
              <a:rPr sz="1800" b="1" i="0">
                <a:solidFill>
                  <a:srgbClr val="155EEF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B67945-4491-4EC0-BA79-A0ECDC25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Rename it to buyerName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1CDAF2-D50D-4D5F-AE50-36592D82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431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B42318"/>
                </a:solidFill>
              </a:defRPr>
            </a:pPr>
            <a:r>
              <a:rPr sz="1275" b="0" i="0">
                <a:solidFill>
                  <a:srgbClr val="B42318"/>
                </a:solidFill>
              </a:rPr>
              <a:t>Existing field selection no longer matches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FE8244-EF83-45F7-BA52-3B0CFAE3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108204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261C64-B7BA-45A3-9DCE-29DF0AD8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194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111"/>
                </a:solidFill>
              </a:defRPr>
            </a:pPr>
            <a:r>
              <a:rPr sz="1575" b="1" i="0">
                <a:solidFill>
                  <a:srgbClr val="111111"/>
                </a:solidFill>
              </a:rPr>
              <a:t>gRPC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77DE84-6087-4701-98F5-FE38D624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623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368"/>
                </a:solidFill>
              </a:defRPr>
            </a:pPr>
            <a:r>
              <a:rPr sz="1350" b="0" i="0">
                <a:solidFill>
                  <a:srgbClr val="5F6368"/>
                </a:solidFill>
              </a:rPr>
              <a:t>Warehouse client expects int64 order_id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D96E2C-CA79-4C8C-9AC8-D189BBD7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2385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55EEF"/>
                </a:solidFill>
              </a:defRPr>
            </a:pPr>
            <a:r>
              <a:rPr sz="1800" b="1" i="0">
                <a:solidFill>
                  <a:srgbClr val="155EEF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2732D5-1F5F-412F-A98D-98EE91C5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623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Change it to string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4421E1-D84D-4CD5-994A-CE51E801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623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B42318"/>
                </a:solidFill>
              </a:defRPr>
            </a:pPr>
            <a:r>
              <a:rPr sz="1275" b="0" i="0">
                <a:solidFill>
                  <a:srgbClr val="B42318"/>
                </a:solidFill>
              </a:rPr>
              <a:t>Generated clients expect a number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C102ED-878C-4019-A2C9-40E6B5B8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08204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F06B93-4BD5-4103-9672-52DB0586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38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111"/>
                </a:solidFill>
              </a:defRPr>
            </a:pPr>
            <a:r>
              <a:rPr sz="1575" b="1" i="0">
                <a:solidFill>
                  <a:srgbClr val="111111"/>
                </a:solidFill>
              </a:rPr>
              <a:t>AsyncAPI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22B9B1-426B-47BF-A0F8-201A444E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815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368"/>
                </a:solidFill>
              </a:defRPr>
            </a:pPr>
            <a:r>
              <a:rPr sz="1350" b="0" i="0">
                <a:solidFill>
                  <a:srgbClr val="5F6368"/>
                </a:solidFill>
              </a:rPr>
              <a:t>Partner reads status as a string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4BDDC4-5A35-4ED9-9EA0-EC1F4322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4577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55EEF"/>
                </a:solidFill>
              </a:defRPr>
            </a:pPr>
            <a:r>
              <a:rPr sz="1800" b="1" i="0">
                <a:solidFill>
                  <a:srgbClr val="155EEF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048C13-134D-4CB0-9DDA-A10C8AA3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815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Make status an object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C68E93-1739-4AE0-927E-C9931F97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815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B42318"/>
                </a:solidFill>
              </a:defRPr>
            </a:pPr>
            <a:r>
              <a:rPr sz="1275" b="0" i="0">
                <a:solidFill>
                  <a:srgbClr val="B42318"/>
                </a:solidFill>
              </a:rPr>
              <a:t>Existing event payload shape changes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56CCA5-6E0D-4768-96A9-BD3FBB54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55EEF"/>
                </a:solidFill>
              </a:defRPr>
            </a:pPr>
            <a:r>
              <a:rPr sz="1875" b="1" i="0">
                <a:solidFill>
                  <a:srgbClr val="155EEF"/>
                </a:solidFill>
              </a:rPr>
              <a:t>Different syntax. Different consumers. One question about backward compatibility.</a:t>
            </a:r>
          </a:p>
        </p:txBody>
      </p:sp>
    </p:spTree>
    <p:extLst>
      <p:ext uri="{BB962C8B-B14F-4D97-AF65-F5344CB8AC3E}">
        <p14:creationId xmlns:p14="http://schemas.microsoft.com/office/powerpoint/2010/main" val="64857423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197042-42D1-4B15-9B1E-B1933337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55EEF"/>
                </a:solidFill>
              </a:defRPr>
            </a:pPr>
            <a:r>
              <a:rPr sz="1050" b="1" i="0">
                <a:solidFill>
                  <a:srgbClr val="155EEF"/>
                </a:solidFill>
              </a:rPr>
              <a:t>MOVE THE CHECK LEFT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9A7E90-2C4C-4215-AEC4-07A9DB73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111"/>
                </a:solidFill>
              </a:defRPr>
            </a:pPr>
            <a:r>
              <a:rPr sz="2700" b="1" i="0">
                <a:solidFill>
                  <a:srgbClr val="111111"/>
                </a:solidFill>
              </a:rPr>
              <a:t>Local hooks give fast feedback. CI protects the shared branch.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FC007B-E852-4DD1-A1F5-7DB79550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B8E2BB-6C23-4FF5-9C77-14A2FB5A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5F6368"/>
                </a:solidFill>
              </a:defRPr>
            </a:pPr>
            <a:r>
              <a:rPr sz="1050" b="1" i="0">
                <a:solidFill>
                  <a:srgbClr val="5F6368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4B86D5-0FD9-4A1D-BB4E-827DFB36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55EEF"/>
                </a:solidFill>
              </a:defRPr>
            </a:pPr>
            <a:r>
              <a:rPr sz="975" b="1" i="0">
                <a:solidFill>
                  <a:srgbClr val="155EEF"/>
                </a:solidFill>
              </a:rPr>
              <a:t>LOCAL DEMONSTRATION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ED5B0B-1260-4282-9209-4B8E226E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76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F3F4F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4821E4-A1C0-474A-AC37-0611AB97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4419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git commit --no-verify</a:t>
            </a:r>
          </a:p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# intentional demo commit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7B7A7A-F478-4164-92F0-4EBB1D0A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368"/>
                </a:solidFill>
              </a:defRPr>
            </a:pPr>
            <a:r>
              <a:rPr sz="1350" b="0" i="0">
                <a:solidFill>
                  <a:srgbClr val="5F6368"/>
                </a:solidFill>
              </a:rPr>
              <a:t>Use this only when you intentionally want the breaking commit to reach CI.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D0EDB0-70E7-46DA-8A8E-0D54024D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478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55EEF"/>
                </a:solidFill>
              </a:defRPr>
            </a:pPr>
            <a:r>
              <a:rPr sz="975" b="1" i="0">
                <a:solidFill>
                  <a:srgbClr val="155EEF"/>
                </a:solidFill>
              </a:rPr>
              <a:t>PULL REQUEST GATE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4DD6D1-E12E-4B3E-B2EB-160CD27F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09800"/>
            <a:ext cx="47625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F"/>
          </a:solidFill>
          <a:ln xmlns:a="http://schemas.openxmlformats.org/drawingml/2006/main" w="9525">
            <a:solidFill>
              <a:srgbClr val="EDF3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04CCA4-0138-4140-8A4E-A20327B6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43150"/>
            <a:ext cx="44196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55EEF"/>
                </a:solidFill>
              </a:defRPr>
            </a:pPr>
            <a:r>
              <a:rPr sz="1275" b="0" i="0">
                <a:solidFill>
                  <a:srgbClr val="155EEF"/>
                </a:solidFill>
              </a:rPr>
              <a:t>backward-compatibility-check</a:t>
            </a:r>
          </a:p>
          <a:p xmlns:a="http://schemas.openxmlformats.org/drawingml/2006/main">
            <a:pPr algn="l">
              <a:defRPr sz="1275" b="0" i="0">
                <a:solidFill>
                  <a:srgbClr val="155EEF"/>
                </a:solidFill>
              </a:defRPr>
            </a:pPr>
            <a:r>
              <a:rPr sz="1275" b="0" i="0">
                <a:solidFill>
                  <a:srgbClr val="155EEF"/>
                </a:solidFill>
              </a:rPr>
              <a:t>--base-branch origin/main</a:t>
            </a:r>
          </a:p>
          <a:p xmlns:a="http://schemas.openxmlformats.org/drawingml/2006/main">
            <a:pPr algn="l">
              <a:defRPr sz="1275" b="0" i="0">
                <a:solidFill>
                  <a:srgbClr val="155EEF"/>
                </a:solidFill>
              </a:defRPr>
            </a:pPr>
            <a:r>
              <a:rPr sz="1275" b="0" i="0">
                <a:solidFill>
                  <a:srgbClr val="155EEF"/>
                </a:solidFill>
              </a:rPr>
              <a:t>--target-path .../orders.yaml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F899D3-0370-4CA0-9A1E-A3261D34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0525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DEC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F735E9-0550-4922-83AD-E1F37E19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00500"/>
            <a:ext cx="445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42318"/>
                </a:solidFill>
              </a:defRPr>
            </a:pPr>
            <a:r>
              <a:rPr sz="1200" b="1" i="0">
                <a:solidFill>
                  <a:srgbClr val="B42318"/>
                </a:solidFill>
              </a:rPr>
              <a:t>INCOMPATIBLE → CI FAILS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DC1245-6248-41C4-857E-5E640C30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3390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368"/>
                </a:solidFill>
              </a:defRPr>
            </a:pPr>
            <a:r>
              <a:rPr sz="1350" b="0" i="0">
                <a:solidFill>
                  <a:srgbClr val="5F6368"/>
                </a:solidFill>
              </a:rPr>
              <a:t>The commit is allowed into the branch for the demo; the shared gate rejects the release path.</a:t>
            </a:r>
          </a:p>
        </p:txBody>
      </p:sp>
    </p:spTree>
    <p:extLst>
      <p:ext uri="{BB962C8B-B14F-4D97-AF65-F5344CB8AC3E}">
        <p14:creationId xmlns:p14="http://schemas.microsoft.com/office/powerpoint/2010/main" val="166059012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256A31-C84F-4F3F-983C-C6814C62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55EEF"/>
                </a:solidFill>
              </a:defRPr>
            </a:pPr>
            <a:r>
              <a:rPr sz="1050" b="1" i="0">
                <a:solidFill>
                  <a:srgbClr val="155EEF"/>
                </a:solidFill>
              </a:rPr>
              <a:t>RUN IT LIVE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EDEA39-72A1-49B3-9302-B45382DF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111"/>
                </a:solidFill>
              </a:defRPr>
            </a:pPr>
            <a:r>
              <a:rPr sz="2700" b="1" i="0">
                <a:solidFill>
                  <a:srgbClr val="111111"/>
                </a:solidFill>
              </a:rPr>
              <a:t>A short path from business change to release decision.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D35735-9983-4E69-9834-611025DA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C2D3A5-62A4-4219-87B1-CF639F1D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5F6368"/>
                </a:solidFill>
              </a:defRPr>
            </a:pPr>
            <a:r>
              <a:rPr sz="1050" b="1" i="0">
                <a:solidFill>
                  <a:srgbClr val="5F6368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7DF721-C3CF-40F1-8243-ADAEB2BF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4953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F3F4F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713E86-5F24-4B80-8C62-94DD3EE2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46101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cd bcc-enterprise-demo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./scripts/run-bcc.sh openapi --add-skip</a:t>
            </a:r>
          </a:p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./scripts/run-bcc.sh openapi --add-limit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./scripts/cleanup.sh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24B86A-C565-41D3-8151-E30E065E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</a:defRPr>
            </a:pPr>
            <a:r>
              <a:rPr sz="1650" b="1" i="0">
                <a:solidFill>
                  <a:srgbClr val="111111"/>
                </a:solidFill>
              </a:rPr>
              <a:t>Then show the same pattern for: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D3E47F-23A4-4C69-A670-095AEB8F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38100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F6368"/>
                </a:solidFill>
              </a:defRPr>
            </a:pPr>
            <a:r>
              <a:rPr sz="1575" b="0" i="0">
                <a:solidFill>
                  <a:srgbClr val="5F6368"/>
                </a:solidFill>
              </a:rPr>
              <a:t>GraphQL</a:t>
            </a:r>
          </a:p>
          <a:p xmlns:a="http://schemas.openxmlformats.org/drawingml/2006/main">
            <a:pPr algn="l">
              <a:defRPr sz="1575" b="0" i="0">
                <a:solidFill>
                  <a:srgbClr val="5F6368"/>
                </a:solidFill>
              </a:defRPr>
            </a:pPr>
            <a:r>
              <a:rPr sz="1575" b="0" i="0">
                <a:solidFill>
                  <a:srgbClr val="5F6368"/>
                </a:solidFill>
              </a:rPr>
              <a:t>field rename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 i="0">
                <a:solidFill>
                  <a:srgbClr val="5F6368"/>
                </a:solidFill>
              </a:defRPr>
            </a:pPr>
            <a:r>
              <a:rPr sz="1575" b="0" i="0">
                <a:solidFill>
                  <a:srgbClr val="5F6368"/>
                </a:solidFill>
              </a:rPr>
              <a:t>gRPC</a:t>
            </a:r>
          </a:p>
          <a:p xmlns:a="http://schemas.openxmlformats.org/drawingml/2006/main">
            <a:pPr algn="l">
              <a:defRPr sz="1575" b="0" i="0">
                <a:solidFill>
                  <a:srgbClr val="5F6368"/>
                </a:solidFill>
              </a:defRPr>
            </a:pPr>
            <a:r>
              <a:rPr sz="1575" b="0" i="0">
                <a:solidFill>
                  <a:srgbClr val="5F6368"/>
                </a:solidFill>
              </a:rPr>
              <a:t>ID type change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 i="0">
                <a:solidFill>
                  <a:srgbClr val="5F6368"/>
                </a:solidFill>
              </a:defRPr>
            </a:pPr>
            <a:r>
              <a:rPr sz="1575" b="0" i="0">
                <a:solidFill>
                  <a:srgbClr val="5F6368"/>
                </a:solidFill>
              </a:rPr>
              <a:t>AsyncAPI</a:t>
            </a:r>
          </a:p>
          <a:p xmlns:a="http://schemas.openxmlformats.org/drawingml/2006/main">
            <a:pPr algn="l">
              <a:defRPr sz="1575" b="0" i="0">
                <a:solidFill>
                  <a:srgbClr val="5F6368"/>
                </a:solidFill>
              </a:defRPr>
            </a:pPr>
            <a:r>
              <a:rPr sz="1575" b="0" i="0">
                <a:solidFill>
                  <a:srgbClr val="5F6368"/>
                </a:solidFill>
              </a:rPr>
              <a:t>payload shape change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B6581D-746F-4773-8604-46BB1C0A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95090A-DDA2-4A4C-B433-9A8218BD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29250"/>
            <a:ext cx="10325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One enterprise release. Several legitimate changes. One compatibility gate.</a:t>
            </a:r>
          </a:p>
        </p:txBody>
      </p:sp>
    </p:spTree>
    <p:extLst>
      <p:ext uri="{BB962C8B-B14F-4D97-AF65-F5344CB8AC3E}">
        <p14:creationId xmlns:p14="http://schemas.microsoft.com/office/powerpoint/2010/main" val="262318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2026-08-11T10:04:34.6230000Z</dcterms:created>
  <dcterms:modified xsi:type="dcterms:W3CDTF">2026-08-11T10:04:34.6230000Z</dcterms:modified>
</coreProperties>
</file>